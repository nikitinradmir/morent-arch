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72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579F95-FB99-4F91-A836-8FADB7FC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553" y="7113010"/>
            <a:ext cx="3562847" cy="105742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1226967-161C-410A-9C9C-77DF90260726}"/>
              </a:ext>
            </a:extLst>
          </p:cNvPr>
          <p:cNvSpPr/>
          <p:nvPr/>
        </p:nvSpPr>
        <p:spPr>
          <a:xfrm>
            <a:off x="3074412" y="3082329"/>
            <a:ext cx="8941880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vision </a:t>
            </a:r>
            <a:r>
              <a:rPr lang="ru-RU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сервиса аренды авто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Morent</a:t>
            </a:r>
            <a:endParaRPr lang="en-US" sz="445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1375836-2C6B-4BD0-8575-AB308808F4ED}"/>
              </a:ext>
            </a:extLst>
          </p:cNvPr>
          <p:cNvSpPr/>
          <p:nvPr/>
        </p:nvSpPr>
        <p:spPr>
          <a:xfrm>
            <a:off x="11067553" y="521147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Никитин Р. А.</a:t>
            </a:r>
          </a:p>
          <a:p>
            <a:pPr marL="0" indent="0" algn="l">
              <a:buNone/>
            </a:pPr>
            <a:r>
              <a:rPr lang="ru-RU" sz="2800" b="1" dirty="0" err="1">
                <a:solidFill>
                  <a:srgbClr val="333F70"/>
                </a:solidFill>
                <a:ea typeface="Unbounded Bold" pitchFamily="34" charset="-122"/>
              </a:rPr>
              <a:t>Шарифуллин</a:t>
            </a:r>
            <a:r>
              <a:rPr lang="ru-RU" sz="2800" b="1" dirty="0">
                <a:solidFill>
                  <a:srgbClr val="333F70"/>
                </a:solidFill>
                <a:ea typeface="Unbounded Bold" pitchFamily="34" charset="-122"/>
              </a:rPr>
              <a:t> А. В.</a:t>
            </a:r>
          </a:p>
          <a:p>
            <a:pPr marL="0" indent="0" algn="l">
              <a:buNone/>
            </a:pPr>
            <a:r>
              <a:rPr lang="ru-RU" sz="2800" b="1" dirty="0">
                <a:solidFill>
                  <a:srgbClr val="333F70"/>
                </a:solidFill>
                <a:ea typeface="Unbounded Bold" pitchFamily="34" charset="-122"/>
              </a:rPr>
              <a:t>Юсупов Д. А.</a:t>
            </a:r>
          </a:p>
          <a:p>
            <a:pPr marL="0" indent="0" algn="l">
              <a:buNone/>
            </a:pPr>
            <a:r>
              <a:rPr lang="ru-RU" sz="2800" b="1" dirty="0" err="1">
                <a:solidFill>
                  <a:srgbClr val="333F70"/>
                </a:solidFill>
                <a:ea typeface="Unbounded Bold" pitchFamily="34" charset="-122"/>
              </a:rPr>
              <a:t>Азмитов</a:t>
            </a:r>
            <a:r>
              <a:rPr lang="ru-RU" sz="2800" b="1" dirty="0">
                <a:solidFill>
                  <a:srgbClr val="333F70"/>
                </a:solidFill>
                <a:ea typeface="Unbounded Bold" pitchFamily="34" charset="-122"/>
              </a:rPr>
              <a:t> А. Ш.</a:t>
            </a:r>
          </a:p>
          <a:p>
            <a:pPr marL="0" indent="0" algn="l">
              <a:buNone/>
            </a:pPr>
            <a:r>
              <a:rPr lang="ru-RU" sz="2800" b="1" dirty="0" err="1">
                <a:solidFill>
                  <a:srgbClr val="333F70"/>
                </a:solidFill>
                <a:ea typeface="Unbounded Bold" pitchFamily="34" charset="-122"/>
              </a:rPr>
              <a:t>Гарифуллин</a:t>
            </a:r>
            <a:r>
              <a:rPr lang="ru-RU" sz="2800" b="1" dirty="0">
                <a:solidFill>
                  <a:srgbClr val="333F70"/>
                </a:solidFill>
                <a:ea typeface="Unbounded Bold" pitchFamily="34" charset="-122"/>
              </a:rPr>
              <a:t> А. А.</a:t>
            </a:r>
          </a:p>
        </p:txBody>
      </p:sp>
    </p:spTree>
    <p:extLst>
      <p:ext uri="{BB962C8B-B14F-4D97-AF65-F5344CB8AC3E}">
        <p14:creationId xmlns:p14="http://schemas.microsoft.com/office/powerpoint/2010/main" val="142918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Morent: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сервис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аренды автомобилей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Коротко: удобный, прозрачный, быстрый сервис аренды авто — от туриста до корпоративного клиента. Видение фокусируется на клиентском опыте, прозрачности цен и масштабируемой платформе, готовой к новым сервисам мобильности.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192"/>
            <a:ext cx="53846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Что такое Morent?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6796"/>
            <a:ext cx="1205984" cy="745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2936796"/>
            <a:ext cx="266914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Онлайн-сервис аренды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4135874"/>
            <a:ext cx="266914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Платформа для поиска, сравнения и бронирования автомобилей разных классов — эконом, средний, премиум.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36796"/>
            <a:ext cx="1205984" cy="7453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2936796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Разнообразие автопарка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3781544"/>
            <a:ext cx="266914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Разные типы коробок и топлива, гибкая тарификация и дополнительные опции.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36796"/>
            <a:ext cx="1205984" cy="7453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2936796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Скорость и простота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3781544"/>
            <a:ext cx="266914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выбора до получения — минимум шагов, мгновенные подтверждения брони и цифровые документы.</a:t>
            </a:r>
            <a:endParaRPr lang="en-US" sz="17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0D08ABD-0FA5-484D-8A42-27319A3DB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0974" y="7448441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3782"/>
            <a:ext cx="7556421" cy="10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Какая проблема решается?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280190" y="2118360"/>
            <a:ext cx="3675817" cy="2586395"/>
          </a:xfrm>
          <a:prstGeom prst="roundRect">
            <a:avLst>
              <a:gd name="adj" fmla="val 349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3194" y="2341364"/>
            <a:ext cx="322980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Убрать бюрократию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03194" y="3137297"/>
            <a:ext cx="322980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Сложные договора и долгие очереди заменяются цифровыми контрактами и быстрой выдачей.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0675" y="2118360"/>
            <a:ext cx="3675936" cy="2586395"/>
          </a:xfrm>
          <a:prstGeom prst="roundRect">
            <a:avLst>
              <a:gd name="adj" fmla="val 349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83679" y="2341364"/>
            <a:ext cx="320837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Прозрачность цен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83679" y="2800707"/>
            <a:ext cx="322992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Ясные тарифы без скрытых платежей, прозрачная политика страховок и доп. опций.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80190" y="4909423"/>
            <a:ext cx="3675817" cy="2586395"/>
          </a:xfrm>
          <a:prstGeom prst="roundRect">
            <a:avLst>
              <a:gd name="adj" fmla="val 349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3194" y="5132427"/>
            <a:ext cx="285309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Широкий выбор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03194" y="5591770"/>
            <a:ext cx="322980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Легкий поиск подходящего авто, фильтры по параметрам и рекомендации.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0675" y="4909423"/>
            <a:ext cx="3675936" cy="2586395"/>
          </a:xfrm>
          <a:prstGeom prst="roundRect">
            <a:avLst>
              <a:gd name="adj" fmla="val 349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83679" y="5132427"/>
            <a:ext cx="322992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Онлайн-доступность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383679" y="5928360"/>
            <a:ext cx="322992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 к аренде в любом месте и в любое время — через веб и мобильные приложения.</a:t>
            </a:r>
            <a:endParaRPr lang="en-US" sz="16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4FDE98F-D644-4EBF-AF08-B55357F9C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974" y="7503548"/>
            <a:ext cx="3229426" cy="673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315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Целевая аудитория Morent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104078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Частные пользователи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039553"/>
            <a:ext cx="35015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Туристы и путешественники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Горожане без личного авто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Молодые водители, тестирующие модели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104078"/>
            <a:ext cx="30131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Бизнес-клиенты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685223"/>
            <a:ext cx="3501509" cy="306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Малый и средний бизнес (корпоративные аренды)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Проектные и полевые команды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HR/операционные менеджеры, централизующее управление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80FEA9-7757-4FEF-8242-11348A2F1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0974" y="7448441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1761"/>
            <a:ext cx="891968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Функциональные требования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112526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08204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7723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1051084" y="2679502"/>
            <a:ext cx="35952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Каталог и фильтры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16992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классу, цене, коробке, топливу, состоянию и доступности.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112526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216962" y="208204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Shape 8"/>
          <p:cNvSpPr/>
          <p:nvPr/>
        </p:nvSpPr>
        <p:spPr>
          <a:xfrm>
            <a:off x="6974860" y="17723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11" name="Text 9"/>
          <p:cNvSpPr/>
          <p:nvPr/>
        </p:nvSpPr>
        <p:spPr>
          <a:xfrm>
            <a:off x="5474256" y="2679502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Онлайн-бронирование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352425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Дата/время, место получения/возврата, мгновенное подтверждение.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112526"/>
            <a:ext cx="4196358" cy="2757726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40133" y="208204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98032" y="17723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16" name="Text 14"/>
          <p:cNvSpPr/>
          <p:nvPr/>
        </p:nvSpPr>
        <p:spPr>
          <a:xfrm>
            <a:off x="9897427" y="2679502"/>
            <a:ext cx="30531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Личный кабинет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316992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заказов, управление бронями, счета и документы.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437227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5406747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540" y="509706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084" y="6004203"/>
            <a:ext cx="42502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Платежи и интеграции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084" y="649462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Онлайн-оплата, предоплата, интеграция с платежными шлюзами и бухгалтерией.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437227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28548" y="5406747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2298" y="509706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6A688"/>
          </a:solidFill>
          <a:ln/>
        </p:spPr>
      </p:sp>
      <p:sp>
        <p:nvSpPr>
          <p:cNvPr id="26" name="Text 24"/>
          <p:cNvSpPr/>
          <p:nvPr/>
        </p:nvSpPr>
        <p:spPr>
          <a:xfrm>
            <a:off x="7685842" y="6004203"/>
            <a:ext cx="4348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Мобильная поддержка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85842" y="649462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Адаптивный UI и нативные приложения для быстрой аренды на ходу.</a:t>
            </a:r>
            <a:endParaRPr lang="en-US" sz="175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A773323-0098-4541-9D50-F356B7F7A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5834" y="7395920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077"/>
            <a:ext cx="9543098" cy="55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Нефункциональные требования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" y="1753314"/>
            <a:ext cx="4217789" cy="5623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4147" y="3049905"/>
            <a:ext cx="8300799" cy="315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Производительность: быстрая загрузка и работа под нагрузкой.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Безопасность: шифрование данных, безопасные платежи, соответствие GDPR.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Масштабируемость: горизонтальное масштабирование автопарка и сервисов.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Доступность: стабильность и резервирование, SLA для корпоративных клиентов.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Поддержка: 24/7 сервис и быстрое решение инцидентов.</a:t>
            </a:r>
            <a:endParaRPr lang="en-US" sz="17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ADB6CC-0491-425C-BCAC-4B13B7828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0216" y="7400032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6375"/>
            <a:ext cx="105436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Основные функции и возможности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96979"/>
            <a:ext cx="1341120" cy="167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56867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Карточки автомобилей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01615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Фото, характеристики, реальный пробег, прозрачный прайс-лист и условия аренды.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496979"/>
            <a:ext cx="1341120" cy="167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45686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Дополнительные опции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30161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Детское кресло, навигатор, страховки, топливные пакеты — добавляются при бронировании.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496979"/>
            <a:ext cx="1341120" cy="1676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45686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Электронные документы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30161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Генерация договора, электронная подпись и архив доступный в личном кабинете.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496979"/>
            <a:ext cx="1341120" cy="1676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45686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Уведомления и напоминания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30161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Статус брони, напоминания о возврате, инструкции по получению авто.</a:t>
            </a:r>
            <a:endParaRPr lang="en-US" sz="17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A7C1EF-5AC6-41CB-BE7A-8317E4B029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7808" y="7328032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176" y="967264"/>
            <a:ext cx="9910048" cy="531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8677" y="1378750"/>
            <a:ext cx="2934603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User Scenarios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2864945" y="4429719"/>
            <a:ext cx="2230299" cy="7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Airport App Pickup</a:t>
            </a:r>
            <a:endParaRPr lang="en-US" sz="2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2284" y="3244262"/>
            <a:ext cx="495622" cy="4956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3872" y="4572373"/>
            <a:ext cx="2230299" cy="110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Corporate Bulk Booking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1211" y="3583371"/>
            <a:ext cx="495622" cy="49562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42799" y="4224501"/>
            <a:ext cx="2230299" cy="110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Family Weekend Rental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0138" y="3209617"/>
            <a:ext cx="495622" cy="49562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3790" y="65365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Примеры: быстрая аренда в аэропорту, корпоративное централизованное управление, семейный уикенд с доп. опциями — показывают реальную ценность сервиса.</a:t>
            </a:r>
            <a:endParaRPr lang="en-US" sz="17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685DC0-3799-44E9-AEB6-D27612F59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0974" y="7448441"/>
            <a:ext cx="3229426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26750"/>
            <a:ext cx="10569773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Конкурентные преимущества Morent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793790" y="4372570"/>
            <a:ext cx="4211122" cy="1577578"/>
          </a:xfrm>
          <a:prstGeom prst="roundRect">
            <a:avLst>
              <a:gd name="adj" fmla="val 3278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5955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Прозрачность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054918"/>
            <a:ext cx="376511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Ясные цены, расчёт итоговой суммы перед подтверждением.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372570"/>
            <a:ext cx="4211122" cy="1577578"/>
          </a:xfrm>
          <a:prstGeom prst="roundRect">
            <a:avLst>
              <a:gd name="adj" fmla="val 3278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5955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Скорость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054918"/>
            <a:ext cx="376511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Оформление и оплата онлайн — готово за 10 минут.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372570"/>
            <a:ext cx="4211122" cy="1577578"/>
          </a:xfrm>
          <a:prstGeom prst="roundRect">
            <a:avLst>
              <a:gd name="adj" fmla="val 3278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5955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Гибкость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054918"/>
            <a:ext cx="376511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Короткие и длительные аренды, подписки и корпоративные планы.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93790" y="6154817"/>
            <a:ext cx="13042702" cy="1241465"/>
          </a:xfrm>
          <a:prstGeom prst="roundRect">
            <a:avLst>
              <a:gd name="adj" fmla="val 4165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6794" y="637782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Сервис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16794" y="6837164"/>
            <a:ext cx="1259669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Поддержка 24/7 и система отзывов для повышения качества.</a:t>
            </a:r>
            <a:endParaRPr lang="en-US" sz="16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084B737-1054-49F7-8119-46653284D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3563" y="7519035"/>
            <a:ext cx="3229426" cy="5819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500</Words>
  <Application>Microsoft Office PowerPoint</Application>
  <PresentationFormat>Произвольный</PresentationFormat>
  <Paragraphs>82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Arial</vt:lpstr>
      <vt:lpstr>Unbounded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SHIDO ᓚᘏᗢ</dc:creator>
  <cp:lastModifiedBy>SHIDO ᓚᘏᗢ</cp:lastModifiedBy>
  <cp:revision>2</cp:revision>
  <dcterms:created xsi:type="dcterms:W3CDTF">2026-02-18T15:40:23Z</dcterms:created>
  <dcterms:modified xsi:type="dcterms:W3CDTF">2026-02-18T15:48:04Z</dcterms:modified>
</cp:coreProperties>
</file>